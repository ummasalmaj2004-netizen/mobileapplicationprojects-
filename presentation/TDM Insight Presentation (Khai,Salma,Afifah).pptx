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al Nova Bold" charset="1" panose="020B0804020202020204"/>
      <p:regular r:id="rId15"/>
    </p:embeddedFont>
    <p:embeddedFont>
      <p:font typeface="Arial Nova" charset="1" panose="020B0504020202020204"/>
      <p:regular r:id="rId16"/>
    </p:embeddedFont>
    <p:embeddedFont>
      <p:font typeface="Arial Nova Italics" charset="1" panose="020B050402020209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65168" y="8760366"/>
            <a:ext cx="694132" cy="694132"/>
          </a:xfrm>
          <a:custGeom>
            <a:avLst/>
            <a:gdLst/>
            <a:ahLst/>
            <a:cxnLst/>
            <a:rect r="r" b="b" t="t" l="l"/>
            <a:pathLst>
              <a:path h="694132" w="694132">
                <a:moveTo>
                  <a:pt x="0" y="0"/>
                </a:moveTo>
                <a:lnTo>
                  <a:pt x="694132" y="0"/>
                </a:lnTo>
                <a:lnTo>
                  <a:pt x="694132" y="694132"/>
                </a:lnTo>
                <a:lnTo>
                  <a:pt x="0" y="694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67709" y="2334932"/>
            <a:ext cx="9352582" cy="101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9"/>
              </a:lnSpc>
              <a:spcBef>
                <a:spcPct val="0"/>
              </a:spcBef>
            </a:pPr>
            <a:r>
              <a:rPr lang="en-US" b="true" sz="5899" spc="-235">
                <a:solidFill>
                  <a:srgbClr val="16161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CDE2313 GROUP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14143" y="6187067"/>
            <a:ext cx="12259714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PROJECT TITLE: TDM INSIGHT: A MOBILE THERAPEUTIC DRUG MONITORING CALCULATOR SIMPLIFYING VANCOMYCIN TDM CALCULATIONS THROUGH A STRUCTURED ANDROID APPLICATION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STUDENT NAME &amp; ID: NUR KHAIRUNNISA AIU24102156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UMMASALMA AIU24102319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AFIFAH SHUKRI AIU24102306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LECTURER’S NAME: TS MOHD ZULKIFLI MOHD ZAKI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16313" y="3213773"/>
            <a:ext cx="7806170" cy="1210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39"/>
              </a:lnSpc>
              <a:spcBef>
                <a:spcPct val="0"/>
              </a:spcBef>
            </a:pPr>
            <a:r>
              <a:rPr lang="en-US" b="true" sz="7099" spc="-283">
                <a:solidFill>
                  <a:srgbClr val="0560E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1748164"/>
            <a:ext cx="18288000" cy="0"/>
          </a:xfrm>
          <a:prstGeom prst="line">
            <a:avLst/>
          </a:prstGeom>
          <a:ln cap="flat" w="9525">
            <a:solidFill>
              <a:srgbClr val="1616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154460"/>
            <a:ext cx="5641601" cy="66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spc="-2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THE </a:t>
            </a:r>
            <a:r>
              <a:rPr lang="en-US" sz="5000" spc="-200" b="true">
                <a:solidFill>
                  <a:srgbClr val="0560E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CHALLENGES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30190"/>
            <a:ext cx="15446284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Therapeutic Drug Monitoring requires pharm</a:t>
            </a:r>
            <a:r>
              <a:rPr lang="en-US" sz="24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acists to work with multiple pieces of information: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Patient parameters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Medication dose &amp; dosing interval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Drug concentration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Sampling time</a:t>
            </a:r>
          </a:p>
          <a:p>
            <a:pPr algn="l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Laboratory information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564168"/>
            <a:ext cx="694132" cy="694132"/>
          </a:xfrm>
          <a:custGeom>
            <a:avLst/>
            <a:gdLst/>
            <a:ahLst/>
            <a:cxnLst/>
            <a:rect r="r" b="b" t="t" l="l"/>
            <a:pathLst>
              <a:path h="694132" w="694132">
                <a:moveTo>
                  <a:pt x="0" y="0"/>
                </a:moveTo>
                <a:lnTo>
                  <a:pt x="694132" y="0"/>
                </a:lnTo>
                <a:lnTo>
                  <a:pt x="694132" y="694132"/>
                </a:lnTo>
                <a:lnTo>
                  <a:pt x="0" y="694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2832" y="6776690"/>
            <a:ext cx="14338102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MULTIPLE INPUTS + COMPLEX PHARMACOKINETIC CALCULATIONS = A PROCESS THAT REQUIRES CAREFUL HANDLING.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TDM INSIGHT WAS PROPOSED TO BRING THESE ELEMENTS TOGETHER IN ONE STRUCTURED MOBILE WORKFLOW.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9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2759309"/>
            <a:ext cx="18288000" cy="0"/>
          </a:xfrm>
          <a:prstGeom prst="line">
            <a:avLst/>
          </a:prstGeom>
          <a:ln cap="flat" w="9525">
            <a:solidFill>
              <a:srgbClr val="1616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633494" y="523072"/>
            <a:ext cx="13689258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00"/>
              </a:lnSpc>
              <a:spcBef>
                <a:spcPct val="0"/>
              </a:spcBef>
            </a:pPr>
            <a:r>
              <a:rPr lang="en-US" b="true" sz="4500" spc="-180">
                <a:solidFill>
                  <a:srgbClr val="0560E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TDM Insight </a:t>
            </a:r>
            <a:r>
              <a:rPr lang="en-US" sz="4500" spc="-18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is a native Android application designed to support Vancomycin TDM calculations.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33494" y="3097830"/>
            <a:ext cx="6844629" cy="6920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b="true" sz="2800" spc="-112">
                <a:solidFill>
                  <a:srgbClr val="16161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The application provides: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  <a:r>
              <a:rPr lang="en-US" sz="2800" spc="-112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📋 Structured Data Entry</a:t>
            </a:r>
          </a:p>
          <a:p>
            <a:pPr algn="l">
              <a:lnSpc>
                <a:spcPts val="3920"/>
              </a:lnSpc>
            </a:pPr>
            <a:r>
              <a:rPr lang="en-US" sz="2800" spc="-112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 Collects the required information.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  <a:r>
              <a:rPr lang="en-US" sz="2800" spc="-112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🔄 Dynamic Workflows</a:t>
            </a:r>
          </a:p>
          <a:p>
            <a:pPr algn="l">
              <a:lnSpc>
                <a:spcPts val="3920"/>
              </a:lnSpc>
            </a:pPr>
            <a:r>
              <a:rPr lang="en-US" sz="2800" spc="-112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 Shows only the fields required for the selected TDM method.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  <a:r>
              <a:rPr lang="en-US" sz="2800" spc="-112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✅ Input Validation</a:t>
            </a:r>
          </a:p>
          <a:p>
            <a:pPr algn="l">
              <a:lnSpc>
                <a:spcPts val="3920"/>
              </a:lnSpc>
            </a:pPr>
            <a:r>
              <a:rPr lang="en-US" sz="2800" spc="-112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 Identifies missing, invalid or inconsistent information.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669949" y="3963838"/>
            <a:ext cx="6142278" cy="283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🧮 Calculation Engine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 Processes the approved calculation pathway.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📊 Explainable Results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 Shows how the results were obtained.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1684635"/>
            <a:ext cx="9516913" cy="0"/>
          </a:xfrm>
          <a:prstGeom prst="line">
            <a:avLst/>
          </a:prstGeom>
          <a:ln cap="flat" w="9525">
            <a:solidFill>
              <a:srgbClr val="1616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14190" y="2381174"/>
            <a:ext cx="3472949" cy="6877126"/>
          </a:xfrm>
          <a:custGeom>
            <a:avLst/>
            <a:gdLst/>
            <a:ahLst/>
            <a:cxnLst/>
            <a:rect r="r" b="b" t="t" l="l"/>
            <a:pathLst>
              <a:path h="6877126" w="3472949">
                <a:moveTo>
                  <a:pt x="0" y="0"/>
                </a:moveTo>
                <a:lnTo>
                  <a:pt x="3472949" y="0"/>
                </a:lnTo>
                <a:lnTo>
                  <a:pt x="3472949" y="6877126"/>
                </a:lnTo>
                <a:lnTo>
                  <a:pt x="0" y="6877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0479" y="554038"/>
            <a:ext cx="5257782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spc="-2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HOW IT</a:t>
            </a:r>
            <a:r>
              <a:rPr lang="en-US" sz="5000" spc="-2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 WORKS?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87139" y="2343074"/>
            <a:ext cx="10749610" cy="6786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9"/>
              </a:lnSpc>
              <a:spcBef>
                <a:spcPct val="0"/>
              </a:spcBef>
            </a:pPr>
            <a:r>
              <a:rPr lang="en-US" sz="1692" i="true">
                <a:solidFill>
                  <a:srgbClr val="161614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Patient &amp; Medication Information</a:t>
            </a:r>
            <a:r>
              <a:rPr lang="en-US" sz="1692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: </a:t>
            </a:r>
            <a:r>
              <a:rPr lang="en-US" sz="1692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The user enters the relevant patient parameters and medication details required for the TDM calculation.</a:t>
            </a:r>
          </a:p>
          <a:p>
            <a:pPr algn="ctr">
              <a:lnSpc>
                <a:spcPts val="2369"/>
              </a:lnSpc>
              <a:spcBef>
                <a:spcPct val="0"/>
              </a:spcBef>
            </a:pPr>
          </a:p>
          <a:p>
            <a:pPr algn="ctr">
              <a:lnSpc>
                <a:spcPts val="2369"/>
              </a:lnSpc>
              <a:spcBef>
                <a:spcPct val="0"/>
              </a:spcBef>
            </a:pPr>
            <a:r>
              <a:rPr lang="en-US" sz="1692" i="true">
                <a:solidFill>
                  <a:srgbClr val="161614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Select Vancomycin:</a:t>
            </a:r>
            <a:r>
              <a:rPr lang="en-US" sz="1692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 The user selects Vancomycin as the medication to be evaluated through the TDM process.</a:t>
            </a:r>
          </a:p>
          <a:p>
            <a:pPr algn="ctr">
              <a:lnSpc>
                <a:spcPts val="2369"/>
              </a:lnSpc>
              <a:spcBef>
                <a:spcPct val="0"/>
              </a:spcBef>
            </a:pPr>
          </a:p>
          <a:p>
            <a:pPr algn="ctr">
              <a:lnSpc>
                <a:spcPts val="2369"/>
              </a:lnSpc>
              <a:spcBef>
                <a:spcPct val="0"/>
              </a:spcBef>
            </a:pPr>
          </a:p>
          <a:p>
            <a:pPr algn="ctr">
              <a:lnSpc>
                <a:spcPts val="2369"/>
              </a:lnSpc>
              <a:spcBef>
                <a:spcPct val="0"/>
              </a:spcBef>
            </a:pPr>
            <a:r>
              <a:rPr lang="en-US" sz="1692" i="true">
                <a:solidFill>
                  <a:srgbClr val="161614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Select TDM Workflow:</a:t>
            </a:r>
            <a:r>
              <a:rPr lang="en-US" sz="1692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 The user chooses the appropriate workflow: Pre, Post, or Pre + Post, depending on the available drug concentration data.</a:t>
            </a:r>
          </a:p>
          <a:p>
            <a:pPr algn="ctr">
              <a:lnSpc>
                <a:spcPts val="2369"/>
              </a:lnSpc>
              <a:spcBef>
                <a:spcPct val="0"/>
              </a:spcBef>
            </a:pPr>
          </a:p>
          <a:p>
            <a:pPr algn="ctr">
              <a:lnSpc>
                <a:spcPts val="2369"/>
              </a:lnSpc>
              <a:spcBef>
                <a:spcPct val="0"/>
              </a:spcBef>
            </a:pPr>
            <a:r>
              <a:rPr lang="en-US" sz="1692" i="true">
                <a:solidFill>
                  <a:srgbClr val="161614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Enter Required Data</a:t>
            </a:r>
            <a:r>
              <a:rPr lang="en-US" sz="1692" i="true">
                <a:solidFill>
                  <a:srgbClr val="0560E4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:</a:t>
            </a:r>
            <a:r>
              <a:rPr lang="en-US" sz="1692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 The application displays a dynamic form and collects only the information required for the selected workflow.</a:t>
            </a:r>
          </a:p>
          <a:p>
            <a:pPr algn="ctr">
              <a:lnSpc>
                <a:spcPts val="2369"/>
              </a:lnSpc>
              <a:spcBef>
                <a:spcPct val="0"/>
              </a:spcBef>
            </a:pPr>
          </a:p>
          <a:p>
            <a:pPr algn="ctr">
              <a:lnSpc>
                <a:spcPts val="2369"/>
              </a:lnSpc>
              <a:spcBef>
                <a:spcPct val="0"/>
              </a:spcBef>
            </a:pPr>
            <a:r>
              <a:rPr lang="en-US" sz="1692" i="true">
                <a:solidFill>
                  <a:srgbClr val="161614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Validation:</a:t>
            </a:r>
            <a:r>
              <a:rPr lang="en-US" sz="1692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 The system checks that the entered values are complete, valid, and logically consistent before proceeding.</a:t>
            </a:r>
          </a:p>
          <a:p>
            <a:pPr algn="ctr">
              <a:lnSpc>
                <a:spcPts val="2369"/>
              </a:lnSpc>
              <a:spcBef>
                <a:spcPct val="0"/>
              </a:spcBef>
            </a:pPr>
          </a:p>
          <a:p>
            <a:pPr algn="ctr">
              <a:lnSpc>
                <a:spcPts val="2369"/>
              </a:lnSpc>
              <a:spcBef>
                <a:spcPct val="0"/>
              </a:spcBef>
            </a:pPr>
            <a:r>
              <a:rPr lang="en-US" sz="1692" i="true">
                <a:solidFill>
                  <a:srgbClr val="161614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Calculation Engine:</a:t>
            </a:r>
            <a:r>
              <a:rPr lang="en-US" sz="1692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 The validated inputs are processed by a dedicated calculation engine using the approved pharmacokinetic calculation pathway.</a:t>
            </a:r>
          </a:p>
          <a:p>
            <a:pPr algn="ctr">
              <a:lnSpc>
                <a:spcPts val="2369"/>
              </a:lnSpc>
              <a:spcBef>
                <a:spcPct val="0"/>
              </a:spcBef>
            </a:pPr>
          </a:p>
          <a:p>
            <a:pPr algn="ctr">
              <a:lnSpc>
                <a:spcPts val="2369"/>
              </a:lnSpc>
              <a:spcBef>
                <a:spcPct val="0"/>
              </a:spcBef>
            </a:pPr>
            <a:r>
              <a:rPr lang="en-US" sz="1692" i="true">
                <a:solidFill>
                  <a:srgbClr val="161614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Pharmacokinetic Results:</a:t>
            </a:r>
            <a:r>
              <a:rPr lang="en-US" sz="1692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 The application presents the calculated pharmacokinetic parameters, such as Ke, half-life, Vd, clearance, and AUC, where applicable.</a:t>
            </a:r>
          </a:p>
          <a:p>
            <a:pPr algn="ctr">
              <a:lnSpc>
                <a:spcPts val="2369"/>
              </a:lnSpc>
              <a:spcBef>
                <a:spcPct val="0"/>
              </a:spcBef>
            </a:pPr>
          </a:p>
          <a:p>
            <a:pPr algn="ctr">
              <a:lnSpc>
                <a:spcPts val="2369"/>
              </a:lnSpc>
              <a:spcBef>
                <a:spcPct val="0"/>
              </a:spcBef>
            </a:pPr>
            <a:r>
              <a:rPr lang="en-US" sz="1692" i="true">
                <a:solidFill>
                  <a:srgbClr val="161614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Calculation Explanation:</a:t>
            </a:r>
            <a:r>
              <a:rPr lang="en-US" sz="1692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 The user can view the key inputs and intermediate calculations to understand how the final results were obtained.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1748164"/>
            <a:ext cx="18288000" cy="0"/>
          </a:xfrm>
          <a:prstGeom prst="line">
            <a:avLst/>
          </a:prstGeom>
          <a:ln cap="flat" w="9525">
            <a:solidFill>
              <a:srgbClr val="16161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648897" y="5360876"/>
            <a:ext cx="19585794" cy="3086100"/>
            <a:chOff x="0" y="0"/>
            <a:chExt cx="5158398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58398" cy="812800"/>
            </a:xfrm>
            <a:custGeom>
              <a:avLst/>
              <a:gdLst/>
              <a:ahLst/>
              <a:cxnLst/>
              <a:rect r="r" b="b" t="t" l="l"/>
              <a:pathLst>
                <a:path h="812800" w="5158398">
                  <a:moveTo>
                    <a:pt x="0" y="0"/>
                  </a:moveTo>
                  <a:lnTo>
                    <a:pt x="5158398" y="0"/>
                  </a:lnTo>
                  <a:lnTo>
                    <a:pt x="5158398" y="812800"/>
                  </a:lnTo>
                  <a:lnTo>
                    <a:pt x="0" y="812800"/>
                  </a:lnTo>
                  <a:close/>
                </a:path>
              </a:pathLst>
            </a:custGeom>
            <a:ln w="9525" cap="sq">
              <a:solidFill>
                <a:srgbClr val="161614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515839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46189" y="2294235"/>
            <a:ext cx="6049016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spc="-2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 VANCOMYCIN TDM WO</a:t>
            </a:r>
            <a:r>
              <a:rPr lang="en-US" sz="5000" spc="-200" strike="noStrike" u="none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R</a:t>
            </a:r>
            <a:r>
              <a:rPr lang="en-US" sz="5000" spc="-200" strike="noStrike" u="none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KFLOWS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60245" y="6856301"/>
            <a:ext cx="3462347" cy="110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Uses a pre-dose c</a:t>
            </a:r>
            <a:r>
              <a:rPr lang="en-US" sz="2100" spc="-84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oncentration and relevant patient, medication and timing information.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04816" y="6856301"/>
            <a:ext cx="2955357" cy="110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Uses a post-dose concentration together with its s</a:t>
            </a:r>
            <a:r>
              <a:rPr lang="en-US" sz="2100" spc="-84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ampling information.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66358" y="6856301"/>
            <a:ext cx="3411378" cy="1108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-84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Uses both pre-dose </a:t>
            </a:r>
            <a:r>
              <a:rPr lang="en-US" sz="2100" spc="-84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and post-dose concentrations with relevant timing information.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0813" y="8707438"/>
            <a:ext cx="11641234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The selec</a:t>
            </a: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ted workflow determines the required inputs.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16161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Users do not see unnecessary fields.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5722643" y="7208194"/>
            <a:ext cx="1007697" cy="452548"/>
          </a:xfrm>
          <a:custGeom>
            <a:avLst/>
            <a:gdLst/>
            <a:ahLst/>
            <a:cxnLst/>
            <a:rect r="r" b="b" t="t" l="l"/>
            <a:pathLst>
              <a:path h="452548" w="1007697">
                <a:moveTo>
                  <a:pt x="1007697" y="0"/>
                </a:moveTo>
                <a:lnTo>
                  <a:pt x="0" y="0"/>
                </a:lnTo>
                <a:lnTo>
                  <a:pt x="0" y="452548"/>
                </a:lnTo>
                <a:lnTo>
                  <a:pt x="1007697" y="452548"/>
                </a:lnTo>
                <a:lnTo>
                  <a:pt x="100769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0358611" y="7283862"/>
            <a:ext cx="1007697" cy="452548"/>
          </a:xfrm>
          <a:custGeom>
            <a:avLst/>
            <a:gdLst/>
            <a:ahLst/>
            <a:cxnLst/>
            <a:rect r="r" b="b" t="t" l="l"/>
            <a:pathLst>
              <a:path h="452548" w="1007697">
                <a:moveTo>
                  <a:pt x="1007697" y="0"/>
                </a:moveTo>
                <a:lnTo>
                  <a:pt x="0" y="0"/>
                </a:lnTo>
                <a:lnTo>
                  <a:pt x="0" y="452548"/>
                </a:lnTo>
                <a:lnTo>
                  <a:pt x="1007697" y="452548"/>
                </a:lnTo>
                <a:lnTo>
                  <a:pt x="100769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56075" y="6147109"/>
            <a:ext cx="1094927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01 — PRE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95205" y="6147109"/>
            <a:ext cx="1503016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02 — POST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40303" y="6147109"/>
            <a:ext cx="1922879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03 — PRE + POST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1037924"/>
            <a:ext cx="18288000" cy="0"/>
          </a:xfrm>
          <a:prstGeom prst="line">
            <a:avLst/>
          </a:prstGeom>
          <a:ln cap="flat" w="9525">
            <a:solidFill>
              <a:srgbClr val="1616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9144000" y="1037924"/>
            <a:ext cx="0" cy="8685515"/>
          </a:xfrm>
          <a:prstGeom prst="line">
            <a:avLst/>
          </a:prstGeom>
          <a:ln cap="flat" w="9525">
            <a:solidFill>
              <a:srgbClr val="1616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394128" y="2947085"/>
            <a:ext cx="3439054" cy="3421858"/>
          </a:xfrm>
          <a:custGeom>
            <a:avLst/>
            <a:gdLst/>
            <a:ahLst/>
            <a:cxnLst/>
            <a:rect r="r" b="b" t="t" l="l"/>
            <a:pathLst>
              <a:path h="3421858" w="3439054">
                <a:moveTo>
                  <a:pt x="0" y="0"/>
                </a:moveTo>
                <a:lnTo>
                  <a:pt x="3439054" y="0"/>
                </a:lnTo>
                <a:lnTo>
                  <a:pt x="3439054" y="3421858"/>
                </a:lnTo>
                <a:lnTo>
                  <a:pt x="0" y="34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19876" y="1484166"/>
            <a:ext cx="6991743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pc="-144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APPLICATI</a:t>
            </a:r>
            <a:r>
              <a:rPr lang="en-US" sz="3600" spc="-144" strike="noStrike" u="none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O</a:t>
            </a:r>
            <a:r>
              <a:rPr lang="en-US" sz="3600" spc="-144" strike="noStrike" u="none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N</a:t>
            </a:r>
            <a:r>
              <a:rPr lang="en-US" sz="3600" spc="-144" strike="noStrike" u="none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3600" spc="-144" strike="noStrike" u="none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EX</a:t>
            </a:r>
            <a:r>
              <a:rPr lang="en-US" sz="3600" spc="-144" strike="noStrike" u="none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P</a:t>
            </a:r>
            <a:r>
              <a:rPr lang="en-US" sz="3600" spc="-144" strike="noStrike" u="none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ERIENCE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1457" y="2505562"/>
            <a:ext cx="6648581" cy="632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720" spc="-108" b="true">
                <a:solidFill>
                  <a:srgbClr val="16161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Designed Arou</a:t>
            </a:r>
            <a:r>
              <a:rPr lang="en-US" b="true" sz="2720" spc="-108">
                <a:solidFill>
                  <a:srgbClr val="16161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nd the User</a:t>
            </a:r>
          </a:p>
          <a:p>
            <a:pPr algn="l">
              <a:lnSpc>
                <a:spcPts val="2993"/>
              </a:lnSpc>
            </a:pPr>
          </a:p>
          <a:p>
            <a:pPr algn="l">
              <a:lnSpc>
                <a:spcPts val="2993"/>
              </a:lnSpc>
            </a:pPr>
            <a:r>
              <a:rPr lang="en-US" sz="2720" spc="-108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1. Select: Choose Vancomycin and the required TDM method.</a:t>
            </a:r>
          </a:p>
          <a:p>
            <a:pPr algn="l">
              <a:lnSpc>
                <a:spcPts val="2993"/>
              </a:lnSpc>
            </a:pPr>
          </a:p>
          <a:p>
            <a:pPr algn="l">
              <a:lnSpc>
                <a:spcPts val="2993"/>
              </a:lnSpc>
            </a:pPr>
            <a:r>
              <a:rPr lang="en-US" sz="2720" spc="-108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2. Enter: Provide only the information required for that workflow.</a:t>
            </a:r>
          </a:p>
          <a:p>
            <a:pPr algn="l">
              <a:lnSpc>
                <a:spcPts val="2993"/>
              </a:lnSpc>
            </a:pPr>
          </a:p>
          <a:p>
            <a:pPr algn="l">
              <a:lnSpc>
                <a:spcPts val="2993"/>
              </a:lnSpc>
            </a:pPr>
            <a:r>
              <a:rPr lang="en-US" sz="2720" spc="-108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3. Validate: The system checks the information before calculation.</a:t>
            </a:r>
          </a:p>
          <a:p>
            <a:pPr algn="l">
              <a:lnSpc>
                <a:spcPts val="2993"/>
              </a:lnSpc>
            </a:pPr>
          </a:p>
          <a:p>
            <a:pPr algn="l">
              <a:lnSpc>
                <a:spcPts val="2993"/>
              </a:lnSpc>
            </a:pPr>
            <a:r>
              <a:rPr lang="en-US" sz="2720" spc="-108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4. Calculate: The dedicated engine processes the calculation.</a:t>
            </a:r>
          </a:p>
          <a:p>
            <a:pPr algn="l">
              <a:lnSpc>
                <a:spcPts val="2993"/>
              </a:lnSpc>
            </a:pPr>
          </a:p>
          <a:p>
            <a:pPr algn="l">
              <a:lnSpc>
                <a:spcPts val="2993"/>
              </a:lnSpc>
            </a:pPr>
            <a:r>
              <a:rPr lang="en-US" sz="2720" spc="-108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5. Understand: Results and calculation steps are presented clearly.</a:t>
            </a:r>
          </a:p>
          <a:p>
            <a:pPr algn="l">
              <a:lnSpc>
                <a:spcPts val="299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551494" y="6730893"/>
            <a:ext cx="7124323" cy="205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1999" spc="-7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Why separate the engi</a:t>
            </a:r>
            <a:r>
              <a:rPr lang="en-US" sz="1999" spc="-7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ne?</a:t>
            </a:r>
          </a:p>
          <a:p>
            <a:pPr algn="ctr" marL="431794" indent="-215897" lvl="1">
              <a:lnSpc>
                <a:spcPts val="2199"/>
              </a:lnSpc>
              <a:buFont typeface="Arial"/>
              <a:buChar char="•"/>
            </a:pPr>
            <a:r>
              <a:rPr lang="en-US" sz="1999" spc="-7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Keeps clinical calculations away from UI code</a:t>
            </a:r>
          </a:p>
          <a:p>
            <a:pPr algn="ctr" marL="431794" indent="-215897" lvl="1">
              <a:lnSpc>
                <a:spcPts val="2199"/>
              </a:lnSpc>
              <a:buFont typeface="Arial"/>
              <a:buChar char="•"/>
            </a:pPr>
            <a:r>
              <a:rPr lang="en-US" sz="1999" spc="-7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Makes calculations easier to test</a:t>
            </a:r>
          </a:p>
          <a:p>
            <a:pPr algn="ctr" marL="431794" indent="-215897" lvl="1">
              <a:lnSpc>
                <a:spcPts val="2199"/>
              </a:lnSpc>
              <a:buFont typeface="Arial"/>
              <a:buChar char="•"/>
            </a:pPr>
            <a:r>
              <a:rPr lang="en-US" sz="1999" spc="-7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Improves maintainability</a:t>
            </a:r>
          </a:p>
          <a:p>
            <a:pPr algn="ctr" marL="431794" indent="-215897" lvl="1">
              <a:lnSpc>
                <a:spcPts val="2199"/>
              </a:lnSpc>
              <a:buFont typeface="Arial"/>
              <a:buChar char="•"/>
            </a:pPr>
            <a:r>
              <a:rPr lang="en-US" sz="1999" spc="-7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Supports future TDM workflows</a:t>
            </a:r>
          </a:p>
          <a:p>
            <a:pPr algn="ctr" marL="431794" indent="-215897" lvl="1">
              <a:lnSpc>
                <a:spcPts val="2199"/>
              </a:lnSpc>
              <a:buFont typeface="Arial"/>
              <a:buChar char="•"/>
            </a:pPr>
            <a:r>
              <a:rPr lang="en-US" sz="1999" spc="-79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Reduces the risk of calculation logic being mixed with interface code</a:t>
            </a:r>
          </a:p>
          <a:p>
            <a:pPr algn="ctr">
              <a:lnSpc>
                <a:spcPts val="101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148888" y="1344011"/>
            <a:ext cx="5538608" cy="122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  <a:r>
              <a:rPr lang="en-US" sz="3500" spc="-14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WHAT HAPPENS BEHIND THE</a:t>
            </a:r>
            <a:r>
              <a:rPr lang="en-US" sz="3500" spc="-140" strike="noStrike" u="none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3500" spc="-140" strike="noStrike" u="none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A</a:t>
            </a:r>
            <a:r>
              <a:rPr lang="en-US" sz="3500" spc="-140" strike="noStrike" u="none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P</a:t>
            </a:r>
            <a:r>
              <a:rPr lang="en-US" sz="3500" spc="-140" strike="noStrike" u="none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P?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48223" y="3044667"/>
            <a:ext cx="2730864" cy="318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1646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UI</a:t>
            </a:r>
          </a:p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1646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 ↓</a:t>
            </a:r>
          </a:p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1646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INPUT STATE</a:t>
            </a:r>
          </a:p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1646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 ↓</a:t>
            </a:r>
          </a:p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1646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VALIDATION</a:t>
            </a:r>
          </a:p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1646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 ↓</a:t>
            </a:r>
          </a:p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1646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TDM CALCULATION ENGINE</a:t>
            </a:r>
          </a:p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1646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 ↓</a:t>
            </a:r>
          </a:p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1646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RESULT MODEL</a:t>
            </a:r>
          </a:p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1646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 ↓</a:t>
            </a:r>
          </a:p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1646">
                <a:solidFill>
                  <a:srgbClr val="0560E4"/>
                </a:solidFill>
                <a:latin typeface="Arial Nova"/>
                <a:ea typeface="Arial Nova"/>
                <a:cs typeface="Arial Nova"/>
                <a:sym typeface="Arial Nova"/>
              </a:rPr>
              <a:t>RESULTS UI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9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1748164"/>
            <a:ext cx="18288000" cy="0"/>
          </a:xfrm>
          <a:prstGeom prst="line">
            <a:avLst/>
          </a:prstGeom>
          <a:ln cap="flat" w="9525">
            <a:solidFill>
              <a:srgbClr val="1616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5506225" y="979496"/>
            <a:ext cx="6818598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>
                <a:solidFill>
                  <a:srgbClr val="0560E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EASE OF USE OF TDM INSIGHT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37204" y="1911843"/>
            <a:ext cx="12556641" cy="742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Result can be understood because it is more</a:t>
            </a: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 than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just a n</a:t>
            </a: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umber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TDM Insight is </a:t>
            </a:r>
            <a:r>
              <a:rPr lang="en-US" b="true" sz="2000">
                <a:solidFill>
                  <a:srgbClr val="16161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designed to</a:t>
            </a:r>
            <a:r>
              <a:rPr lang="en-US" b="true" sz="2000">
                <a:solidFill>
                  <a:srgbClr val="16161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present</a:t>
            </a: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: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Input Values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The information used for the calculation.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↓</a:t>
            </a:r>
          </a:p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16161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Intermediate Values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Important values generated during the calculation.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↓</a:t>
            </a:r>
          </a:p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16161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Pharmacokinetic Parameters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Ke — Elimination rate constant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t½ — Elimination half-life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Vd — Volume of distribution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CL — Clearance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AUC — Area under the concentration-time curve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↓</a:t>
            </a:r>
          </a:p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16161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Final Result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Why this matters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Users can follow how the calculation reaches the result, rather than seeing only a final value.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9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5809" y="1124826"/>
            <a:ext cx="8384060" cy="859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5"/>
              </a:lnSpc>
              <a:spcBef>
                <a:spcPct val="0"/>
              </a:spcBef>
            </a:pP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b="true" sz="2346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Built-In Validation</a:t>
            </a:r>
            <a:r>
              <a:rPr lang="en-US" sz="23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sz="23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TDM Insight is designed to identify problems before calculation.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</a:p>
          <a:p>
            <a:pPr algn="just">
              <a:lnSpc>
                <a:spcPts val="3425"/>
              </a:lnSpc>
              <a:spcBef>
                <a:spcPct val="0"/>
              </a:spcBef>
            </a:pPr>
            <a:r>
              <a:rPr lang="en-US" b="true" sz="2446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Input Checks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sz="23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✓ Required fields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sz="23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 ✓ Numeric values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sz="23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 ✓ Units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sz="23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 ✓ Valid ranges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sz="23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 ✓ Missing information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sz="23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 ✓ Logical sampling times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sz="23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 ✓ Cross-field relationships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b="true" sz="2346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Calculation Protection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sz="23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The system also protects against mathematical problems such as: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sz="23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Division by zero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sz="23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 Invalid logarithmic operations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b="true" sz="2346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Result :</a:t>
            </a:r>
          </a:p>
          <a:p>
            <a:pPr algn="just">
              <a:lnSpc>
                <a:spcPts val="3285"/>
              </a:lnSpc>
              <a:spcBef>
                <a:spcPct val="0"/>
              </a:spcBef>
            </a:pPr>
            <a:r>
              <a:rPr lang="en-US" b="true" sz="2346">
                <a:solidFill>
                  <a:srgbClr val="0560E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Invalid information → Detected → Corrected → Calculation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4443" y="554038"/>
            <a:ext cx="575549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spc="-2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Safety and Validation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82561" y="2253166"/>
            <a:ext cx="4973124" cy="647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5"/>
              </a:lnSpc>
              <a:spcBef>
                <a:spcPct val="0"/>
              </a:spcBef>
            </a:pPr>
            <a:r>
              <a:rPr lang="en-US" b="true" sz="2146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Native Android</a:t>
            </a:r>
          </a:p>
          <a:p>
            <a:pPr algn="l">
              <a:lnSpc>
                <a:spcPts val="3005"/>
              </a:lnSpc>
              <a:spcBef>
                <a:spcPct val="0"/>
              </a:spcBef>
            </a:pPr>
            <a:r>
              <a:rPr lang="en-US" sz="21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Built specifically for Android devices.</a:t>
            </a:r>
          </a:p>
          <a:p>
            <a:pPr algn="l">
              <a:lnSpc>
                <a:spcPts val="3005"/>
              </a:lnSpc>
              <a:spcBef>
                <a:spcPct val="0"/>
              </a:spcBef>
            </a:pPr>
          </a:p>
          <a:p>
            <a:pPr algn="l">
              <a:lnSpc>
                <a:spcPts val="3005"/>
              </a:lnSpc>
              <a:spcBef>
                <a:spcPct val="0"/>
              </a:spcBef>
            </a:pPr>
            <a:r>
              <a:rPr lang="en-US" b="true" sz="2146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Kotlin</a:t>
            </a:r>
          </a:p>
          <a:p>
            <a:pPr algn="l">
              <a:lnSpc>
                <a:spcPts val="3005"/>
              </a:lnSpc>
              <a:spcBef>
                <a:spcPct val="0"/>
              </a:spcBef>
            </a:pPr>
            <a:r>
              <a:rPr lang="en-US" sz="21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Primary programming language.</a:t>
            </a:r>
          </a:p>
          <a:p>
            <a:pPr algn="l">
              <a:lnSpc>
                <a:spcPts val="3005"/>
              </a:lnSpc>
              <a:spcBef>
                <a:spcPct val="0"/>
              </a:spcBef>
            </a:pPr>
          </a:p>
          <a:p>
            <a:pPr algn="l">
              <a:lnSpc>
                <a:spcPts val="3005"/>
              </a:lnSpc>
              <a:spcBef>
                <a:spcPct val="0"/>
              </a:spcBef>
            </a:pPr>
            <a:r>
              <a:rPr lang="en-US" b="true" sz="2146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Jetpack Compose</a:t>
            </a:r>
          </a:p>
          <a:p>
            <a:pPr algn="l">
              <a:lnSpc>
                <a:spcPts val="3005"/>
              </a:lnSpc>
              <a:spcBef>
                <a:spcPct val="0"/>
              </a:spcBef>
            </a:pPr>
            <a:r>
              <a:rPr lang="en-US" sz="21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Used to create a modern, responsive interface.</a:t>
            </a:r>
          </a:p>
          <a:p>
            <a:pPr algn="l">
              <a:lnSpc>
                <a:spcPts val="3005"/>
              </a:lnSpc>
              <a:spcBef>
                <a:spcPct val="0"/>
              </a:spcBef>
            </a:pPr>
          </a:p>
          <a:p>
            <a:pPr algn="l">
              <a:lnSpc>
                <a:spcPts val="3005"/>
              </a:lnSpc>
              <a:spcBef>
                <a:spcPct val="0"/>
              </a:spcBef>
            </a:pPr>
            <a:r>
              <a:rPr lang="en-US" b="true" sz="2146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Material 3</a:t>
            </a:r>
          </a:p>
          <a:p>
            <a:pPr algn="l">
              <a:lnSpc>
                <a:spcPts val="3005"/>
              </a:lnSpc>
              <a:spcBef>
                <a:spcPct val="0"/>
              </a:spcBef>
            </a:pPr>
            <a:r>
              <a:rPr lang="en-US" sz="21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Provides a consistent and intuitive design system.</a:t>
            </a:r>
          </a:p>
          <a:p>
            <a:pPr algn="l">
              <a:lnSpc>
                <a:spcPts val="3005"/>
              </a:lnSpc>
              <a:spcBef>
                <a:spcPct val="0"/>
              </a:spcBef>
            </a:pPr>
          </a:p>
          <a:p>
            <a:pPr algn="l">
              <a:lnSpc>
                <a:spcPts val="3005"/>
              </a:lnSpc>
              <a:spcBef>
                <a:spcPct val="0"/>
              </a:spcBef>
            </a:pPr>
            <a:r>
              <a:rPr lang="en-US" b="true" sz="2146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Modular Structure</a:t>
            </a:r>
          </a:p>
          <a:p>
            <a:pPr algn="l">
              <a:lnSpc>
                <a:spcPts val="3005"/>
              </a:lnSpc>
              <a:spcBef>
                <a:spcPct val="0"/>
              </a:spcBef>
            </a:pPr>
            <a:r>
              <a:rPr lang="en-US" sz="2146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UI, navigation, components and calculation logic are separated.</a:t>
            </a:r>
          </a:p>
        </p:txBody>
      </p:sp>
      <p:sp>
        <p:nvSpPr>
          <p:cNvPr name="AutoShape 5" id="5"/>
          <p:cNvSpPr/>
          <p:nvPr/>
        </p:nvSpPr>
        <p:spPr>
          <a:xfrm>
            <a:off x="10155990" y="-7101918"/>
            <a:ext cx="0" cy="18288000"/>
          </a:xfrm>
          <a:prstGeom prst="line">
            <a:avLst/>
          </a:prstGeom>
          <a:ln cap="flat" w="9525">
            <a:solidFill>
              <a:srgbClr val="1616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836397" y="806872"/>
            <a:ext cx="575549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spc="-200">
                <a:solidFill>
                  <a:srgbClr val="161614"/>
                </a:solidFill>
                <a:latin typeface="Arial Nova"/>
                <a:ea typeface="Arial Nova"/>
                <a:cs typeface="Arial Nova"/>
                <a:sym typeface="Arial Nova"/>
              </a:rPr>
              <a:t>Technical Foundation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9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1748164"/>
            <a:ext cx="18288000" cy="0"/>
          </a:xfrm>
          <a:prstGeom prst="line">
            <a:avLst/>
          </a:prstGeom>
          <a:ln cap="flat" w="9525">
            <a:solidFill>
              <a:srgbClr val="1616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4457076" y="3646901"/>
            <a:ext cx="5948929" cy="286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5"/>
              </a:lnSpc>
            </a:pPr>
            <a:r>
              <a:rPr lang="en-US" sz="16782" i="true" spc="-755">
                <a:solidFill>
                  <a:srgbClr val="0560E4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Thank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46609" y="3646901"/>
            <a:ext cx="4532478" cy="286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5"/>
              </a:lnSpc>
            </a:pPr>
            <a:r>
              <a:rPr lang="en-US" sz="16782" i="true" spc="-755">
                <a:solidFill>
                  <a:srgbClr val="161614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DAHVdQiuD8E</dc:identifier>
  <dcterms:modified xsi:type="dcterms:W3CDTF">2011-08-01T06:04:30Z</dcterms:modified>
  <cp:revision>1</cp:revision>
  <dc:title>Blue White and Black Modern Social Media Marketing Report Presentation</dc:title>
</cp:coreProperties>
</file>